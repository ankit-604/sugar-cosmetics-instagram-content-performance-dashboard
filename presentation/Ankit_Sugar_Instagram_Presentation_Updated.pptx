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Engagement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rgbClr val="F9F9F9"/>
              </a:solidFill>
              <a:prstDash val="solid"/>
            </a:ln>
          </c:spPr>
          <c:dPt>
            <c:idx val="0"/>
            <c:bubble3D val="0"/>
            <c:spPr>
              <a:solidFill>
                <a:srgbClr val="14967A"/>
              </a:solidFill>
            </c:spPr>
            <c:extLst>
              <c:ext xmlns:c16="http://schemas.microsoft.com/office/drawing/2014/chart" uri="{C3380CC4-5D6E-409C-BE32-E72D297353CC}">
                <c16:uniqueId val="{00000001-90B4-4867-BBDB-EC8D1FEB8281}"/>
              </c:ext>
            </c:extLst>
          </c:dPt>
          <c:dPt>
            <c:idx val="1"/>
            <c:bubble3D val="0"/>
            <c:spPr>
              <a:solidFill>
                <a:srgbClr val="C98500"/>
              </a:solidFill>
            </c:spPr>
            <c:extLst>
              <c:ext xmlns:c16="http://schemas.microsoft.com/office/drawing/2014/chart" uri="{C3380CC4-5D6E-409C-BE32-E72D297353CC}">
                <c16:uniqueId val="{00000003-90B4-4867-BBDB-EC8D1FEB8281}"/>
              </c:ext>
            </c:extLst>
          </c:dPt>
          <c:dPt>
            <c:idx val="2"/>
            <c:bubble3D val="0"/>
            <c:spPr>
              <a:solidFill>
                <a:srgbClr val="9085E9"/>
              </a:solidFill>
            </c:spPr>
            <c:extLst>
              <c:ext xmlns:c16="http://schemas.microsoft.com/office/drawing/2014/chart" uri="{C3380CC4-5D6E-409C-BE32-E72D297353CC}">
                <c16:uniqueId val="{00000005-90B4-4867-BBDB-EC8D1FEB8281}"/>
              </c:ext>
            </c:extLst>
          </c:dPt>
          <c:dPt>
            <c:idx val="3"/>
            <c:bubble3D val="0"/>
            <c:spPr>
              <a:solidFill>
                <a:srgbClr val="F2766B"/>
              </a:solidFill>
            </c:spPr>
            <c:extLst>
              <c:ext xmlns:c16="http://schemas.microsoft.com/office/drawing/2014/chart" uri="{C3380CC4-5D6E-409C-BE32-E72D297353CC}">
                <c16:uniqueId val="{00000007-90B4-4867-BBDB-EC8D1FEB8281}"/>
              </c:ext>
            </c:extLst>
          </c:dPt>
          <c:dLbls>
            <c:dLbl>
              <c:idx val="0"/>
              <c:spPr/>
              <c:txPr>
                <a:bodyPr anchorCtr="1"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  <a:ea typeface="+mn-lt"/>
                      <a:cs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B4-4867-BBDB-EC8D1FEB8281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  <a:ea typeface="+mn-lt"/>
                      <a:cs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B4-4867-BBDB-EC8D1FEB8281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  <a:ea typeface="+mn-lt"/>
                      <a:cs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B4-4867-BBDB-EC8D1FEB8281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  <a:ea typeface="+mn-lt"/>
                      <a:cs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B4-4867-BBDB-EC8D1FEB82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Likes</c:v>
                </c:pt>
                <c:pt idx="1">
                  <c:v>Comments</c:v>
                </c:pt>
                <c:pt idx="2">
                  <c:v>Shares</c:v>
                </c:pt>
                <c:pt idx="3">
                  <c:v>Saves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147728279</c:v>
                </c:pt>
                <c:pt idx="1">
                  <c:v>18459361</c:v>
                </c:pt>
                <c:pt idx="2">
                  <c:v>8115338</c:v>
                </c:pt>
                <c:pt idx="3">
                  <c:v>8861439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B4-4867-BBDB-EC8D1FEB82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33454A"/>
              </a:solidFill>
              <a:latin typeface="+mn-lt"/>
              <a:ea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ER vs account average, by format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Story  +0.41%</c:v>
                </c:pt>
                <c:pt idx="1">
                  <c:v>Reel  +0.25%</c:v>
                </c:pt>
                <c:pt idx="2">
                  <c:v>Video  +0.06%</c:v>
                </c:pt>
                <c:pt idx="3">
                  <c:v>Image  -0.72%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0.25</c:v>
                </c:pt>
                <c:pt idx="2">
                  <c:v>0.06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5-4691-B2CC-34CD00432F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Story  +0.41%</c:v>
                </c:pt>
                <c:pt idx="1">
                  <c:v>Reel  +0.25%</c:v>
                </c:pt>
                <c:pt idx="2">
                  <c:v>Video  +0.06%</c:v>
                </c:pt>
                <c:pt idx="3">
                  <c:v>Image  -0.72%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5-4691-B2CC-34CD00432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>
              <a:solidFill>
                <a:srgbClr val="D9E6E3"/>
              </a:solidFill>
              <a:prstDash val="solid"/>
            </a:ln>
          </c:spPr>
        </c:majorGridlines>
        <c:numFmt formatCode="\+0.0&quot;%&quot;;\-0.0&quot;%&quot;;0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span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ER vs account average, by day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Fri  +0.32%</c:v>
                </c:pt>
                <c:pt idx="1">
                  <c:v>Sat  +0.24%</c:v>
                </c:pt>
                <c:pt idx="2">
                  <c:v>Tue  +0.05%</c:v>
                </c:pt>
                <c:pt idx="3">
                  <c:v>Wed  +0.03%</c:v>
                </c:pt>
                <c:pt idx="4">
                  <c:v>Thu  -0.07%</c:v>
                </c:pt>
                <c:pt idx="5">
                  <c:v>Mon  -0.14%</c:v>
                </c:pt>
                <c:pt idx="6">
                  <c:v>Sun  -0.43%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0.24</c:v>
                </c:pt>
                <c:pt idx="2">
                  <c:v>0.05</c:v>
                </c:pt>
                <c:pt idx="3">
                  <c:v>0.03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E-4193-AF60-A5A5A41E30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Fri  +0.32%</c:v>
                </c:pt>
                <c:pt idx="1">
                  <c:v>Sat  +0.24%</c:v>
                </c:pt>
                <c:pt idx="2">
                  <c:v>Tue  +0.05%</c:v>
                </c:pt>
                <c:pt idx="3">
                  <c:v>Wed  +0.03%</c:v>
                </c:pt>
                <c:pt idx="4">
                  <c:v>Thu  -0.07%</c:v>
                </c:pt>
                <c:pt idx="5">
                  <c:v>Mon  -0.14%</c:v>
                </c:pt>
                <c:pt idx="6">
                  <c:v>Sun  -0.43%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-7.0000000000000007E-2</c:v>
                </c:pt>
                <c:pt idx="5">
                  <c:v>-0.14000000000000001</c:v>
                </c:pt>
                <c:pt idx="6">
                  <c:v>-0.43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4E-4193-AF60-A5A5A41E3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>
              <a:solidFill>
                <a:srgbClr val="D9E6E3"/>
              </a:solidFill>
              <a:prstDash val="solid"/>
            </a:ln>
          </c:spPr>
        </c:majorGridlines>
        <c:numFmt formatCode="\+0.0&quot;%&quot;;\-0.0&quot;%&quot;;0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span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ER vs account average, by campaign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Influencer Collab  +0.44%</c:v>
                </c:pt>
                <c:pt idx="1">
                  <c:v>Tutorial  +0.21%</c:v>
                </c:pt>
                <c:pt idx="2">
                  <c:v>Giveaway  +0.04%</c:v>
                </c:pt>
                <c:pt idx="3">
                  <c:v>Product Launch  -0.16%</c:v>
                </c:pt>
                <c:pt idx="4">
                  <c:v>Festive Offer  -0.54%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0.21</c:v>
                </c:pt>
                <c:pt idx="2">
                  <c:v>0.04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D-4984-8F12-11B977080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Influencer Collab  +0.44%</c:v>
                </c:pt>
                <c:pt idx="1">
                  <c:v>Tutorial  +0.21%</c:v>
                </c:pt>
                <c:pt idx="2">
                  <c:v>Giveaway  +0.04%</c:v>
                </c:pt>
                <c:pt idx="3">
                  <c:v>Product Launch  -0.16%</c:v>
                </c:pt>
                <c:pt idx="4">
                  <c:v>Festive Offer  -0.54%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-0.16</c:v>
                </c:pt>
                <c:pt idx="4">
                  <c:v>-0.54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8D-4984-8F12-11B977080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>
              <a:solidFill>
                <a:srgbClr val="D9E6E3"/>
              </a:solidFill>
              <a:prstDash val="solid"/>
            </a:ln>
          </c:spPr>
        </c:majorGridlines>
        <c:numFmt formatCode="\+0.0&quot;%&quot;;\-0.0&quot;%&quot;;0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span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ER vs account average, by hashtag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#VeganBeauty  +0.58%</c:v>
                </c:pt>
                <c:pt idx="1">
                  <c:v>#BoldLooks  +0.20%</c:v>
                </c:pt>
                <c:pt idx="2">
                  <c:v>#MakeupGoals  +0.00%</c:v>
                </c:pt>
                <c:pt idx="3">
                  <c:v>#CrueltyFree  -0.03%</c:v>
                </c:pt>
                <c:pt idx="4">
                  <c:v>#SugarCosmetics  -0.19%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0.57999999999999996</c:v>
                </c:pt>
                <c:pt idx="1">
                  <c:v>0.2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66-424A-B1D9-C4BFBA7307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#VeganBeauty  +0.58%</c:v>
                </c:pt>
                <c:pt idx="1">
                  <c:v>#BoldLooks  +0.20%</c:v>
                </c:pt>
                <c:pt idx="2">
                  <c:v>#MakeupGoals  +0.00%</c:v>
                </c:pt>
                <c:pt idx="3">
                  <c:v>#CrueltyFree  -0.03%</c:v>
                </c:pt>
                <c:pt idx="4">
                  <c:v>#SugarCosmetics  -0.19%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-0.03</c:v>
                </c:pt>
                <c:pt idx="4">
                  <c:v>-0.19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66-424A-B1D9-C4BFBA7307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>
              <a:solidFill>
                <a:srgbClr val="D9E6E3"/>
              </a:solidFill>
              <a:prstDash val="solid"/>
            </a:ln>
          </c:spPr>
        </c:majorGridlines>
        <c:numFmt formatCode="\+0.0&quot;%&quot;;\-0.0&quot;%&quot;;0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span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 b="0" i="0" u="none" strike="noStrike">
                <a:solidFill>
                  <a:srgbClr val="0B2A2F"/>
                </a:solidFill>
                <a:latin typeface="+mn-lt"/>
                <a:ea typeface="+mn-lt"/>
                <a:cs typeface="+mn-lt"/>
              </a:rPr>
              <a:t>ER vs account average, by source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Influencer  +0.56%</c:v>
                </c:pt>
                <c:pt idx="1">
                  <c:v>Collab  +0.44%</c:v>
                </c:pt>
                <c:pt idx="2">
                  <c:v>Paid  -0.02%</c:v>
                </c:pt>
                <c:pt idx="3">
                  <c:v>Organic  -0.97%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0.56000000000000005</c:v>
                </c:pt>
                <c:pt idx="1">
                  <c:v>0.44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1-41A5-8A21-3648692A7C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Influencer  +0.56%</c:v>
                </c:pt>
                <c:pt idx="1">
                  <c:v>Collab  +0.44%</c:v>
                </c:pt>
                <c:pt idx="2">
                  <c:v>Paid  -0.02%</c:v>
                </c:pt>
                <c:pt idx="3">
                  <c:v>Organic  -0.97%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-0.02</c:v>
                </c:pt>
                <c:pt idx="3">
                  <c:v>-0.97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11-41A5-8A21-3648692A7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>
              <a:solidFill>
                <a:srgbClr val="D9E6E3"/>
              </a:solidFill>
              <a:prstDash val="solid"/>
            </a:ln>
          </c:spPr>
        </c:majorGridlines>
        <c:numFmt formatCode="\+0.0&quot;%&quot;;\-0.0&quot;%&quot;;0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  <a:ea typeface="+mn-lt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</c:spPr>
    </c:plotArea>
    <c:plotVisOnly val="1"/>
    <c:dispBlanksAs val="span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find what drives engagement on Sugar's Instagram and turn it into a posting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Engagement rate here is weighted: total engagements divided by total reach. The simple post average is 18.54%, nearly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Saves and shares are the algorithm's strongest signals and they are under 1% of reach. That is the biggest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Differences are under 1% relative to the average. Treat as fine-tuning, not a growth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 + Tutorial and Reel + Influencer Collab are the combinations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Influencer and Collab sources lead. Organic is the weakest source by about 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playbook turns each insight into an action the content team can start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Targets are tracked on the Streamlit dashboard (Funnel and KPI pages).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recommending the extra data fields so the next review can answer timing and ROI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28CD38-A469-4847-8027-0CE190624EE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4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247F9AC-BE3F-4B57-AE92-2D3E5E9C0EA1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800">
                <a:solidFill>
                  <a:srgbClr val="7FD3B2"/>
                </a:solidFill>
              </a:defRPr>
            </a:lvl1pPr>
          </a:lstStyle>
          <a:p>
            <a:pPr marL="0" indent="0" algn="l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2E54C5-2979-4F23-8501-14D10DC0DDB4}"/>
              </a:ext>
            </a:extLst>
          </p:cNvPr>
          <p:cNvSpPr>
            <a:spLocks noGrp="1"/>
          </p:cNvSpPr>
          <p:nvPr/>
        </p:nvSpPr>
        <p:spPr>
          <a:xfrm>
            <a:off x="59436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B6B70"/>
                </a:solidFill>
              </a:rPr>
              <a:t>Kashish Haresh Sonar  ·  Sugar Cosmetics Instagram Analysis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6216D4-A5E2-40D9-AF3C-D7B09F5EF4AA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sz="12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2A5694D-8C94-4D9C-A764-FD0B16DFE773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3000" b="1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sz="3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48BA121-1982-4A96-9EE7-D8C62F499BC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745F365-C76B-4DF7-9FAA-9CE3F931F67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7FFB7F-C693-4606-A325-242DE45BD61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sz="4400" b="1" dirty="0">
                <a:solidFill>
                  <a:schemeClr val="bg1"/>
                </a:solidFill>
              </a:rPr>
              <a:t>Sugar Cosmetics on Instagram: what really drives engagement?</a:t>
            </a:r>
            <a:endParaRPr sz="4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99350E-73A3-4DA9-917D-1C0CDE6C2CA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800" dirty="0">
                <a:solidFill>
                  <a:srgbClr val="7FD3B2"/>
                </a:solidFill>
              </a:rPr>
              <a:t>Content performance analysis · 50,000 posts · Apr 2024 – Apr 2025</a:t>
            </a:r>
            <a:endParaRPr sz="1800" dirty="0"/>
          </a:p>
          <a:p>
            <a:pPr marL="0" indent="0" algn="l">
              <a:buNone/>
            </a:pPr>
            <a:r>
              <a:rPr sz="1500" dirty="0">
                <a:solidFill>
                  <a:srgbClr val="FFFFFF"/>
                </a:solidFill>
              </a:rPr>
              <a:t>Ankit Kumar Sharma  |  </a:t>
            </a:r>
            <a:r>
              <a:rPr sz="1500" dirty="0" err="1">
                <a:solidFill>
                  <a:srgbClr val="FFFFFF"/>
                </a:solidFill>
              </a:rPr>
              <a:t>Labmentrix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Business</a:t>
            </a:r>
            <a:r>
              <a:rPr sz="1500" dirty="0">
                <a:solidFill>
                  <a:srgbClr val="FFFFFF"/>
                </a:solidFill>
              </a:rPr>
              <a:t> Analytics Project</a:t>
            </a:r>
            <a:endParaRPr sz="1800" dirty="0"/>
          </a:p>
        </p:txBody>
      </p:sp>
      <p:sp>
        <p:nvSpPr>
          <p:cNvPr id="4" name="Cover stat 1">
            <a:extLst>
              <a:ext uri="{FF2B5EF4-FFF2-40B4-BE49-F238E27FC236}">
                <a16:creationId xmlns:a16="http://schemas.microsoft.com/office/drawing/2014/main" id="{BCC12FE1-BF25-4B8C-BB27-CE3CECFDE75C}"/>
              </a:ext>
            </a:extLst>
          </p:cNvPr>
          <p:cNvSpPr>
            <a:spLocks noGrp="1"/>
          </p:cNvSpPr>
          <p:nvPr/>
        </p:nvSpPr>
        <p:spPr>
          <a:xfrm>
            <a:off x="9144000" y="14630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6DF121-5ED4-41EB-97FE-4D35840BA363}"/>
              </a:ext>
            </a:extLst>
          </p:cNvPr>
          <p:cNvSpPr>
            <a:spLocks noGrp="1"/>
          </p:cNvSpPr>
          <p:nvPr/>
        </p:nvSpPr>
        <p:spPr>
          <a:xfrm>
            <a:off x="9326880" y="15727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7FD3B2"/>
                </a:solidFill>
              </a:rPr>
              <a:t>50K</a:t>
            </a:r>
            <a:endParaRPr sz="2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731B1B-EA00-4A73-8896-F02BE9373000}"/>
              </a:ext>
            </a:extLst>
          </p:cNvPr>
          <p:cNvSpPr>
            <a:spLocks noGrp="1"/>
          </p:cNvSpPr>
          <p:nvPr/>
        </p:nvSpPr>
        <p:spPr>
          <a:xfrm>
            <a:off x="9326880" y="21214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posts</a:t>
            </a:r>
            <a:endParaRPr sz="1300"/>
          </a:p>
        </p:txBody>
      </p:sp>
      <p:sp>
        <p:nvSpPr>
          <p:cNvPr id="7" name="Cover stat 2">
            <a:extLst>
              <a:ext uri="{FF2B5EF4-FFF2-40B4-BE49-F238E27FC236}">
                <a16:creationId xmlns:a16="http://schemas.microsoft.com/office/drawing/2014/main" id="{836F3597-EEB4-4E3A-BC9A-D0EE8A455E79}"/>
              </a:ext>
            </a:extLst>
          </p:cNvPr>
          <p:cNvSpPr>
            <a:spLocks noGrp="1"/>
          </p:cNvSpPr>
          <p:nvPr/>
        </p:nvSpPr>
        <p:spPr>
          <a:xfrm>
            <a:off x="9144000" y="2834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7D6457-7937-465B-93AD-3E62E21751E2}"/>
              </a:ext>
            </a:extLst>
          </p:cNvPr>
          <p:cNvSpPr>
            <a:spLocks noGrp="1"/>
          </p:cNvSpPr>
          <p:nvPr/>
        </p:nvSpPr>
        <p:spPr>
          <a:xfrm>
            <a:off x="9326880" y="29443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7FD3B2"/>
                </a:solidFill>
              </a:rPr>
              <a:t>987M</a:t>
            </a: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A24811-6A67-40BD-A37A-D7EB1666E7A6}"/>
              </a:ext>
            </a:extLst>
          </p:cNvPr>
          <p:cNvSpPr>
            <a:spLocks noGrp="1"/>
          </p:cNvSpPr>
          <p:nvPr/>
        </p:nvSpPr>
        <p:spPr>
          <a:xfrm>
            <a:off x="9326880" y="34930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reach</a:t>
            </a:r>
            <a:endParaRPr sz="1300"/>
          </a:p>
        </p:txBody>
      </p:sp>
      <p:sp>
        <p:nvSpPr>
          <p:cNvPr id="10" name="Cover stat 3">
            <a:extLst>
              <a:ext uri="{FF2B5EF4-FFF2-40B4-BE49-F238E27FC236}">
                <a16:creationId xmlns:a16="http://schemas.microsoft.com/office/drawing/2014/main" id="{67DB8236-4895-405F-BC81-C44B35952491}"/>
              </a:ext>
            </a:extLst>
          </p:cNvPr>
          <p:cNvSpPr>
            <a:spLocks noGrp="1"/>
          </p:cNvSpPr>
          <p:nvPr/>
        </p:nvSpPr>
        <p:spPr>
          <a:xfrm>
            <a:off x="9144000" y="42062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2D81402-631D-4094-B86D-6B649979364E}"/>
              </a:ext>
            </a:extLst>
          </p:cNvPr>
          <p:cNvSpPr>
            <a:spLocks noGrp="1"/>
          </p:cNvSpPr>
          <p:nvPr/>
        </p:nvSpPr>
        <p:spPr>
          <a:xfrm>
            <a:off x="9326880" y="43159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7FD3B2"/>
                </a:solidFill>
              </a:rPr>
              <a:t>18.55%</a:t>
            </a:r>
            <a:endParaRPr sz="2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3E4B7A-45B2-4E45-BDD2-CB90110C30A2}"/>
              </a:ext>
            </a:extLst>
          </p:cNvPr>
          <p:cNvSpPr>
            <a:spLocks noGrp="1"/>
          </p:cNvSpPr>
          <p:nvPr/>
        </p:nvSpPr>
        <p:spPr>
          <a:xfrm>
            <a:off x="9326880" y="48646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engagement rate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97931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F4FB62F-29A4-4B1C-994F-5B6885C4CE5A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ACCOUNT SCORECARD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963EBF-425B-4662-8AA7-24EEF66054A6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Huge reach, steady output, 18.55% engagement rate</a:t>
            </a:r>
            <a:endParaRPr sz="3000"/>
          </a:p>
        </p:txBody>
      </p:sp>
      <p:sp>
        <p:nvSpPr>
          <p:cNvPr id="4" name="KPI posts published">
            <a:extLst>
              <a:ext uri="{FF2B5EF4-FFF2-40B4-BE49-F238E27FC236}">
                <a16:creationId xmlns:a16="http://schemas.microsoft.com/office/drawing/2014/main" id="{B35F94B0-066B-4B43-A11B-164045670420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33E1D1-1B78-4724-9702-493653EDF3D1}"/>
              </a:ext>
            </a:extLst>
          </p:cNvPr>
          <p:cNvSpPr>
            <a:spLocks noGrp="1"/>
          </p:cNvSpPr>
          <p:nvPr/>
        </p:nvSpPr>
        <p:spPr>
          <a:xfrm>
            <a:off x="868680" y="196596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50,000</a:t>
            </a:r>
            <a:endParaRPr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B8D2E4-CAE0-4F2A-8AE9-C8747A36ADDB}"/>
              </a:ext>
            </a:extLst>
          </p:cNvPr>
          <p:cNvSpPr>
            <a:spLocks noGrp="1"/>
          </p:cNvSpPr>
          <p:nvPr/>
        </p:nvSpPr>
        <p:spPr>
          <a:xfrm>
            <a:off x="868680" y="2651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posts published</a:t>
            </a:r>
            <a:endParaRPr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4F8045-A0AF-4875-B868-476F9E4773EF}"/>
              </a:ext>
            </a:extLst>
          </p:cNvPr>
          <p:cNvSpPr>
            <a:spLocks noGrp="1"/>
          </p:cNvSpPr>
          <p:nvPr/>
        </p:nvSpPr>
        <p:spPr>
          <a:xfrm>
            <a:off x="868680" y="30175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~4,170 per full month</a:t>
            </a:r>
            <a:endParaRPr sz="1300"/>
          </a:p>
        </p:txBody>
      </p:sp>
      <p:sp>
        <p:nvSpPr>
          <p:cNvPr id="8" name="KPI impressions">
            <a:extLst>
              <a:ext uri="{FF2B5EF4-FFF2-40B4-BE49-F238E27FC236}">
                <a16:creationId xmlns:a16="http://schemas.microsoft.com/office/drawing/2014/main" id="{AE3FBEF2-9DF0-494A-B73E-9439AA0A526C}"/>
              </a:ext>
            </a:extLst>
          </p:cNvPr>
          <p:cNvSpPr>
            <a:spLocks noGrp="1"/>
          </p:cNvSpPr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3AF6A6D-3B66-4693-9FEB-3CC230A05199}"/>
              </a:ext>
            </a:extLst>
          </p:cNvPr>
          <p:cNvSpPr>
            <a:spLocks noGrp="1"/>
          </p:cNvSpPr>
          <p:nvPr/>
        </p:nvSpPr>
        <p:spPr>
          <a:xfrm>
            <a:off x="4617720" y="196596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1.28B</a:t>
            </a:r>
            <a:endParaRPr sz="3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3FBAD9-6296-4670-9B6D-8AE2F5CE7C6B}"/>
              </a:ext>
            </a:extLst>
          </p:cNvPr>
          <p:cNvSpPr>
            <a:spLocks noGrp="1"/>
          </p:cNvSpPr>
          <p:nvPr/>
        </p:nvSpPr>
        <p:spPr>
          <a:xfrm>
            <a:off x="4617720" y="2651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impressions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459491-A5E8-49E9-982E-A30F2603B907}"/>
              </a:ext>
            </a:extLst>
          </p:cNvPr>
          <p:cNvSpPr>
            <a:spLocks noGrp="1"/>
          </p:cNvSpPr>
          <p:nvPr/>
        </p:nvSpPr>
        <p:spPr>
          <a:xfrm>
            <a:off x="4617720" y="30175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77.4% become unique reach</a:t>
            </a:r>
            <a:endParaRPr sz="1300"/>
          </a:p>
        </p:txBody>
      </p:sp>
      <p:sp>
        <p:nvSpPr>
          <p:cNvPr id="12" name="KPI reach">
            <a:extLst>
              <a:ext uri="{FF2B5EF4-FFF2-40B4-BE49-F238E27FC236}">
                <a16:creationId xmlns:a16="http://schemas.microsoft.com/office/drawing/2014/main" id="{193FB7C6-3AE5-4A64-8B1E-A837183FD268}"/>
              </a:ext>
            </a:extLst>
          </p:cNvPr>
          <p:cNvSpPr>
            <a:spLocks noGrp="1"/>
          </p:cNvSpPr>
          <p:nvPr/>
        </p:nvSpPr>
        <p:spPr>
          <a:xfrm>
            <a:off x="80924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6975E3-4C63-4DD5-8555-AD2DFA01F788}"/>
              </a:ext>
            </a:extLst>
          </p:cNvPr>
          <p:cNvSpPr>
            <a:spLocks noGrp="1"/>
          </p:cNvSpPr>
          <p:nvPr/>
        </p:nvSpPr>
        <p:spPr>
          <a:xfrm>
            <a:off x="8366760" y="196596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987.4M</a:t>
            </a:r>
            <a:endParaRPr sz="3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ECDB93-65D2-4EDC-9769-B3474773F597}"/>
              </a:ext>
            </a:extLst>
          </p:cNvPr>
          <p:cNvSpPr>
            <a:spLocks noGrp="1"/>
          </p:cNvSpPr>
          <p:nvPr/>
        </p:nvSpPr>
        <p:spPr>
          <a:xfrm>
            <a:off x="8366760" y="2651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reach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7273A9-C4C8-4732-86C8-F541F8E6A4ED}"/>
              </a:ext>
            </a:extLst>
          </p:cNvPr>
          <p:cNvSpPr>
            <a:spLocks noGrp="1"/>
          </p:cNvSpPr>
          <p:nvPr/>
        </p:nvSpPr>
        <p:spPr>
          <a:xfrm>
            <a:off x="8366760" y="30175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19.7K per post on average</a:t>
            </a:r>
            <a:endParaRPr sz="1300"/>
          </a:p>
        </p:txBody>
      </p:sp>
      <p:sp>
        <p:nvSpPr>
          <p:cNvPr id="16" name="KPI likes">
            <a:extLst>
              <a:ext uri="{FF2B5EF4-FFF2-40B4-BE49-F238E27FC236}">
                <a16:creationId xmlns:a16="http://schemas.microsoft.com/office/drawing/2014/main" id="{EA96D40D-3599-43DF-BB71-292CB3A4D3DA}"/>
              </a:ext>
            </a:extLst>
          </p:cNvPr>
          <p:cNvSpPr>
            <a:spLocks noGrp="1"/>
          </p:cNvSpPr>
          <p:nvPr/>
        </p:nvSpPr>
        <p:spPr>
          <a:xfrm>
            <a:off x="59436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44AAABB-4777-413A-86E8-A3B2D4D3898D}"/>
              </a:ext>
            </a:extLst>
          </p:cNvPr>
          <p:cNvSpPr>
            <a:spLocks noGrp="1"/>
          </p:cNvSpPr>
          <p:nvPr/>
        </p:nvSpPr>
        <p:spPr>
          <a:xfrm>
            <a:off x="868680" y="42062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147.7M</a:t>
            </a:r>
            <a:endParaRPr sz="3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5C36A4-F6D3-4434-8707-51C04FB224D0}"/>
              </a:ext>
            </a:extLst>
          </p:cNvPr>
          <p:cNvSpPr>
            <a:spLocks noGrp="1"/>
          </p:cNvSpPr>
          <p:nvPr/>
        </p:nvSpPr>
        <p:spPr>
          <a:xfrm>
            <a:off x="86868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likes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602DE49-8C9C-4DB1-B49A-16781C8DA50E}"/>
              </a:ext>
            </a:extLst>
          </p:cNvPr>
          <p:cNvSpPr>
            <a:spLocks noGrp="1"/>
          </p:cNvSpPr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81% of all engagement</a:t>
            </a:r>
            <a:endParaRPr sz="1300"/>
          </a:p>
        </p:txBody>
      </p:sp>
      <p:sp>
        <p:nvSpPr>
          <p:cNvPr id="20" name="KPI comments">
            <a:extLst>
              <a:ext uri="{FF2B5EF4-FFF2-40B4-BE49-F238E27FC236}">
                <a16:creationId xmlns:a16="http://schemas.microsoft.com/office/drawing/2014/main" id="{B807C1CE-A610-41E1-92CC-480F9333371A}"/>
              </a:ext>
            </a:extLst>
          </p:cNvPr>
          <p:cNvSpPr>
            <a:spLocks noGrp="1"/>
          </p:cNvSpPr>
          <p:nvPr/>
        </p:nvSpPr>
        <p:spPr>
          <a:xfrm>
            <a:off x="434340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D8DCEC6-401A-4374-8060-50BA377D255F}"/>
              </a:ext>
            </a:extLst>
          </p:cNvPr>
          <p:cNvSpPr>
            <a:spLocks noGrp="1"/>
          </p:cNvSpPr>
          <p:nvPr/>
        </p:nvSpPr>
        <p:spPr>
          <a:xfrm>
            <a:off x="4617720" y="42062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18.5M</a:t>
            </a:r>
            <a:endParaRPr sz="3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94890C7-C905-4402-BA2F-B9A4A55A1DB1}"/>
              </a:ext>
            </a:extLst>
          </p:cNvPr>
          <p:cNvSpPr>
            <a:spLocks noGrp="1"/>
          </p:cNvSpPr>
          <p:nvPr/>
        </p:nvSpPr>
        <p:spPr>
          <a:xfrm>
            <a:off x="461772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comments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D52F037-1C25-4745-8E7F-AA76E068F946}"/>
              </a:ext>
            </a:extLst>
          </p:cNvPr>
          <p:cNvSpPr>
            <a:spLocks noGrp="1"/>
          </p:cNvSpPr>
          <p:nvPr/>
        </p:nvSpPr>
        <p:spPr>
          <a:xfrm>
            <a:off x="4617720" y="52578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1.9% of reached users comment</a:t>
            </a:r>
            <a:endParaRPr sz="1300"/>
          </a:p>
        </p:txBody>
      </p:sp>
      <p:sp>
        <p:nvSpPr>
          <p:cNvPr id="24" name="KPI new follows">
            <a:extLst>
              <a:ext uri="{FF2B5EF4-FFF2-40B4-BE49-F238E27FC236}">
                <a16:creationId xmlns:a16="http://schemas.microsoft.com/office/drawing/2014/main" id="{B783F565-8564-48CA-A519-D8F98C9E73DE}"/>
              </a:ext>
            </a:extLst>
          </p:cNvPr>
          <p:cNvSpPr>
            <a:spLocks noGrp="1"/>
          </p:cNvSpPr>
          <p:nvPr/>
        </p:nvSpPr>
        <p:spPr>
          <a:xfrm>
            <a:off x="80924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3ADB416-1CB3-4507-9458-20D00E4800B0}"/>
              </a:ext>
            </a:extLst>
          </p:cNvPr>
          <p:cNvSpPr>
            <a:spLocks noGrp="1"/>
          </p:cNvSpPr>
          <p:nvPr/>
        </p:nvSpPr>
        <p:spPr>
          <a:xfrm>
            <a:off x="8366760" y="42062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600" b="1">
                <a:solidFill>
                  <a:schemeClr val="accent1"/>
                </a:solidFill>
              </a:rPr>
              <a:t>8.87M</a:t>
            </a:r>
            <a:endParaRPr sz="3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6F51170-D088-4E99-9D75-2AEEDEC4B957}"/>
              </a:ext>
            </a:extLst>
          </p:cNvPr>
          <p:cNvSpPr>
            <a:spLocks noGrp="1"/>
          </p:cNvSpPr>
          <p:nvPr/>
        </p:nvSpPr>
        <p:spPr>
          <a:xfrm>
            <a:off x="836676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new follows</a:t>
            </a:r>
            <a:endParaRPr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F63451A-7775-48CF-890D-C074FE24D612}"/>
              </a:ext>
            </a:extLst>
          </p:cNvPr>
          <p:cNvSpPr>
            <a:spLocks noGrp="1"/>
          </p:cNvSpPr>
          <p:nvPr/>
        </p:nvSpPr>
        <p:spPr>
          <a:xfrm>
            <a:off x="8366760" y="52578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5B6B70"/>
                </a:solidFill>
              </a:rPr>
              <a:t>29.9% of profile visitors</a:t>
            </a:r>
            <a:endParaRPr sz="1300"/>
          </a:p>
        </p:txBody>
      </p:sp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97F6C051-F00F-408D-85BC-84FE82AA8D5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A6DF4F-FB7D-E950-151D-560D2F98ABC6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10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8986A47-580D-467D-B927-7219A2029FB9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INSIGHT 1 · FUNNEL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E6E504-5F77-4992-8CA2-A8AD14B51B93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Engagement is wide but shallow: 4 in 5 interactions are likes</a:t>
            </a:r>
            <a:endParaRPr sz="3000"/>
          </a:p>
        </p:txBody>
      </p:sp>
      <p:graphicFrame>
        <p:nvGraphicFramePr>
          <p:cNvPr id="29" name="Engagement mix doughnut"/>
          <p:cNvGraphicFramePr/>
          <p:nvPr/>
        </p:nvGraphicFramePr>
        <p:xfrm>
          <a:off x="594360" y="160020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EF24748B-E59C-4213-B5E5-AA1B6E132C8E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chemeClr val="tx2"/>
                </a:solidFill>
              </a:rPr>
              <a:t>Conversion at each step</a:t>
            </a:r>
            <a:endParaRPr sz="1600"/>
          </a:p>
        </p:txBody>
      </p:sp>
      <p:sp>
        <p:nvSpPr>
          <p:cNvPr id="6" name="Step row 1">
            <a:extLst>
              <a:ext uri="{FF2B5EF4-FFF2-40B4-BE49-F238E27FC236}">
                <a16:creationId xmlns:a16="http://schemas.microsoft.com/office/drawing/2014/main" id="{8A37AFAC-AA57-42FD-99E5-AE35D4028C06}"/>
              </a:ext>
            </a:extLst>
          </p:cNvPr>
          <p:cNvSpPr>
            <a:spLocks noGrp="1"/>
          </p:cNvSpPr>
          <p:nvPr/>
        </p:nvSpPr>
        <p:spPr>
          <a:xfrm>
            <a:off x="6172200" y="2148840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01DDC2-5950-4371-87D3-CDE6E48279F5}"/>
              </a:ext>
            </a:extLst>
          </p:cNvPr>
          <p:cNvSpPr>
            <a:spLocks noGrp="1"/>
          </p:cNvSpPr>
          <p:nvPr/>
        </p:nvSpPr>
        <p:spPr>
          <a:xfrm>
            <a:off x="6400800" y="222199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Impressions → Reach</a:t>
            </a:r>
            <a:endParaRPr sz="1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03D9254-0119-46DD-9F6E-77B9BCE5233F}"/>
              </a:ext>
            </a:extLst>
          </p:cNvPr>
          <p:cNvSpPr>
            <a:spLocks noGrp="1"/>
          </p:cNvSpPr>
          <p:nvPr/>
        </p:nvSpPr>
        <p:spPr>
          <a:xfrm>
            <a:off x="9692640" y="2221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tx2"/>
                </a:solidFill>
              </a:rPr>
              <a:t>77.4%</a:t>
            </a:r>
            <a:endParaRPr sz="1600"/>
          </a:p>
        </p:txBody>
      </p:sp>
      <p:sp>
        <p:nvSpPr>
          <p:cNvPr id="9" name="Step row 2">
            <a:extLst>
              <a:ext uri="{FF2B5EF4-FFF2-40B4-BE49-F238E27FC236}">
                <a16:creationId xmlns:a16="http://schemas.microsoft.com/office/drawing/2014/main" id="{B5E3DFEF-807B-4135-AE60-6FEFB06BEF31}"/>
              </a:ext>
            </a:extLst>
          </p:cNvPr>
          <p:cNvSpPr>
            <a:spLocks noGrp="1"/>
          </p:cNvSpPr>
          <p:nvPr/>
        </p:nvSpPr>
        <p:spPr>
          <a:xfrm>
            <a:off x="6172200" y="2770632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F7F706-85DC-4814-8198-741E6D1DB93F}"/>
              </a:ext>
            </a:extLst>
          </p:cNvPr>
          <p:cNvSpPr>
            <a:spLocks noGrp="1"/>
          </p:cNvSpPr>
          <p:nvPr/>
        </p:nvSpPr>
        <p:spPr>
          <a:xfrm>
            <a:off x="6400800" y="2843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Reach → Like</a:t>
            </a:r>
            <a:endParaRPr sz="1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031A898-012A-40EB-9E83-70C0C3ACAE95}"/>
              </a:ext>
            </a:extLst>
          </p:cNvPr>
          <p:cNvSpPr>
            <a:spLocks noGrp="1"/>
          </p:cNvSpPr>
          <p:nvPr/>
        </p:nvSpPr>
        <p:spPr>
          <a:xfrm>
            <a:off x="9692640" y="284378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tx2"/>
                </a:solidFill>
              </a:rPr>
              <a:t>15.0%</a:t>
            </a:r>
            <a:endParaRPr sz="1600"/>
          </a:p>
        </p:txBody>
      </p:sp>
      <p:sp>
        <p:nvSpPr>
          <p:cNvPr id="12" name="Step row 3">
            <a:extLst>
              <a:ext uri="{FF2B5EF4-FFF2-40B4-BE49-F238E27FC236}">
                <a16:creationId xmlns:a16="http://schemas.microsoft.com/office/drawing/2014/main" id="{A1C64FBB-ED78-4EBE-918F-329802AA8942}"/>
              </a:ext>
            </a:extLst>
          </p:cNvPr>
          <p:cNvSpPr>
            <a:spLocks noGrp="1"/>
          </p:cNvSpPr>
          <p:nvPr/>
        </p:nvSpPr>
        <p:spPr>
          <a:xfrm>
            <a:off x="6172200" y="3392424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6C2540C-ED21-4AF7-8019-35DB87E308CE}"/>
              </a:ext>
            </a:extLst>
          </p:cNvPr>
          <p:cNvSpPr>
            <a:spLocks noGrp="1"/>
          </p:cNvSpPr>
          <p:nvPr/>
        </p:nvSpPr>
        <p:spPr>
          <a:xfrm>
            <a:off x="6400800" y="346557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Reach → Comment</a:t>
            </a:r>
            <a:endParaRPr sz="1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276CD58-3E59-4EAD-8C1F-581F8A6AF62B}"/>
              </a:ext>
            </a:extLst>
          </p:cNvPr>
          <p:cNvSpPr>
            <a:spLocks noGrp="1"/>
          </p:cNvSpPr>
          <p:nvPr/>
        </p:nvSpPr>
        <p:spPr>
          <a:xfrm>
            <a:off x="9692640" y="3465576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accent2"/>
                </a:solidFill>
              </a:rPr>
              <a:t>1.87%</a:t>
            </a:r>
            <a:endParaRPr sz="1600"/>
          </a:p>
        </p:txBody>
      </p:sp>
      <p:sp>
        <p:nvSpPr>
          <p:cNvPr id="15" name="Step row 4">
            <a:extLst>
              <a:ext uri="{FF2B5EF4-FFF2-40B4-BE49-F238E27FC236}">
                <a16:creationId xmlns:a16="http://schemas.microsoft.com/office/drawing/2014/main" id="{AE60B120-0ACD-4A02-A6C3-D2A3374C12D6}"/>
              </a:ext>
            </a:extLst>
          </p:cNvPr>
          <p:cNvSpPr>
            <a:spLocks noGrp="1"/>
          </p:cNvSpPr>
          <p:nvPr/>
        </p:nvSpPr>
        <p:spPr>
          <a:xfrm>
            <a:off x="6172200" y="4014216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5699C79-5629-4747-8348-D09D2E92A656}"/>
              </a:ext>
            </a:extLst>
          </p:cNvPr>
          <p:cNvSpPr>
            <a:spLocks noGrp="1"/>
          </p:cNvSpPr>
          <p:nvPr/>
        </p:nvSpPr>
        <p:spPr>
          <a:xfrm>
            <a:off x="6400800" y="40873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Reach → Save</a:t>
            </a:r>
            <a:endParaRPr sz="1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69285AA-D69D-4182-9E6E-B09F8903D85D}"/>
              </a:ext>
            </a:extLst>
          </p:cNvPr>
          <p:cNvSpPr>
            <a:spLocks noGrp="1"/>
          </p:cNvSpPr>
          <p:nvPr/>
        </p:nvSpPr>
        <p:spPr>
          <a:xfrm>
            <a:off x="9692640" y="40873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accent2"/>
                </a:solidFill>
              </a:rPr>
              <a:t>0.90%</a:t>
            </a:r>
            <a:endParaRPr sz="1600"/>
          </a:p>
        </p:txBody>
      </p:sp>
      <p:sp>
        <p:nvSpPr>
          <p:cNvPr id="18" name="Step row 5">
            <a:extLst>
              <a:ext uri="{FF2B5EF4-FFF2-40B4-BE49-F238E27FC236}">
                <a16:creationId xmlns:a16="http://schemas.microsoft.com/office/drawing/2014/main" id="{8A4A3DC7-6401-4209-AD1D-EE8F7378D337}"/>
              </a:ext>
            </a:extLst>
          </p:cNvPr>
          <p:cNvSpPr>
            <a:spLocks noGrp="1"/>
          </p:cNvSpPr>
          <p:nvPr/>
        </p:nvSpPr>
        <p:spPr>
          <a:xfrm>
            <a:off x="6172200" y="463600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CB6C2CC-73FE-485E-A4ED-A8B4AFDF2A3D}"/>
              </a:ext>
            </a:extLst>
          </p:cNvPr>
          <p:cNvSpPr>
            <a:spLocks noGrp="1"/>
          </p:cNvSpPr>
          <p:nvPr/>
        </p:nvSpPr>
        <p:spPr>
          <a:xfrm>
            <a:off x="6400800" y="4709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Reach → Share</a:t>
            </a:r>
            <a:endParaRPr sz="14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057060F-DC41-4EB6-9A6B-5EE5ED810173}"/>
              </a:ext>
            </a:extLst>
          </p:cNvPr>
          <p:cNvSpPr>
            <a:spLocks noGrp="1"/>
          </p:cNvSpPr>
          <p:nvPr/>
        </p:nvSpPr>
        <p:spPr>
          <a:xfrm>
            <a:off x="9692640" y="4709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accent2"/>
                </a:solidFill>
              </a:rPr>
              <a:t>0.82%</a:t>
            </a:r>
            <a:endParaRPr sz="1600"/>
          </a:p>
        </p:txBody>
      </p:sp>
      <p:sp>
        <p:nvSpPr>
          <p:cNvPr id="21" name="Step row 6">
            <a:extLst>
              <a:ext uri="{FF2B5EF4-FFF2-40B4-BE49-F238E27FC236}">
                <a16:creationId xmlns:a16="http://schemas.microsoft.com/office/drawing/2014/main" id="{BEE30B1C-8F8C-48C3-BF9C-8803E39F9F6A}"/>
              </a:ext>
            </a:extLst>
          </p:cNvPr>
          <p:cNvSpPr>
            <a:spLocks noGrp="1"/>
          </p:cNvSpPr>
          <p:nvPr/>
        </p:nvSpPr>
        <p:spPr>
          <a:xfrm>
            <a:off x="6172200" y="5257800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AA09E04-D97C-400E-9ABA-624151F0755A}"/>
              </a:ext>
            </a:extLst>
          </p:cNvPr>
          <p:cNvSpPr>
            <a:spLocks noGrp="1"/>
          </p:cNvSpPr>
          <p:nvPr/>
        </p:nvSpPr>
        <p:spPr>
          <a:xfrm>
            <a:off x="6400800" y="53309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Profile visit → Follow</a:t>
            </a:r>
            <a:endParaRPr sz="14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452E647-EFFD-4BB0-88AB-5AB167715DED}"/>
              </a:ext>
            </a:extLst>
          </p:cNvPr>
          <p:cNvSpPr>
            <a:spLocks noGrp="1"/>
          </p:cNvSpPr>
          <p:nvPr/>
        </p:nvSpPr>
        <p:spPr>
          <a:xfrm>
            <a:off x="9692640" y="533095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29.9%</a:t>
            </a:r>
            <a:endParaRPr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DF3FF78-82CF-4694-ACC2-D6C79D258E9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9610E3-1705-B012-BC0B-6AEFE712CE44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34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EA2C2F0-7598-4B1C-831F-F95F76852232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INSIGHT 2 · FORMAT &amp; TIMING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00B0BC-830C-47F7-8DAD-92A7A790409D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Stories and Reels lead; Friday and Saturday win</a:t>
            </a:r>
            <a:endParaRPr sz="3000"/>
          </a:p>
        </p:txBody>
      </p:sp>
      <p:graphicFrame>
        <p:nvGraphicFramePr>
          <p:cNvPr id="30" name="Format lift chart"/>
          <p:cNvGraphicFramePr/>
          <p:nvPr/>
        </p:nvGraphicFramePr>
        <p:xfrm>
          <a:off x="594360" y="160020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Day lift chart"/>
          <p:cNvGraphicFramePr/>
          <p:nvPr/>
        </p:nvGraphicFramePr>
        <p:xfrm>
          <a:off x="6217920" y="160020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Best slot banner">
            <a:extLst>
              <a:ext uri="{FF2B5EF4-FFF2-40B4-BE49-F238E27FC236}">
                <a16:creationId xmlns:a16="http://schemas.microsoft.com/office/drawing/2014/main" id="{E30DAD0E-65C5-4560-9F5D-6CDC6DCF1695}"/>
              </a:ext>
            </a:extLst>
          </p:cNvPr>
          <p:cNvSpPr>
            <a:spLocks noGrp="1"/>
          </p:cNvSpPr>
          <p:nvPr/>
        </p:nvSpPr>
        <p:spPr>
          <a:xfrm>
            <a:off x="594360" y="534924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0B2A2F"/>
          </a:solidFill>
        </p:spPr>
        <p:txBody>
          <a:bodyPr/>
          <a:lstStyle/>
          <a:p>
            <a:endParaRPr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E996F05-4813-4CD7-8E0C-CC6CD054465E}"/>
              </a:ext>
            </a:extLst>
          </p:cNvPr>
          <p:cNvSpPr>
            <a:spLocks noGrp="1"/>
          </p:cNvSpPr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7FD3B2"/>
                </a:solidFill>
              </a:rPr>
              <a:t>Best single slot:  </a:t>
            </a:r>
            <a:r>
              <a:rPr sz="1500">
                <a:solidFill>
                  <a:srgbClr val="FFFFFF"/>
                </a:solidFill>
              </a:rPr>
              <a:t>Story on Saturday (18.76%) · Reel on Wednesday (18.73%) · Reel on Friday (18.70%)</a:t>
            </a:r>
            <a:endParaRPr sz="15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B930F18-5631-4595-989C-99B3DB46C07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7DA7B8-31AA-827F-9E86-4AA8DE9D9BAE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3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1D5A7C9-CA04-4C64-84BF-00494A6B0060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INSIGHT 3 · CAMPAIGNS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5F89B7-312B-4F93-AC3F-92DE8331327C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Tutorials and creator collabs win; static festive offers lag</a:t>
            </a:r>
            <a:endParaRPr sz="3000"/>
          </a:p>
        </p:txBody>
      </p:sp>
      <p:graphicFrame>
        <p:nvGraphicFramePr>
          <p:cNvPr id="30" name="Campaign lift chart"/>
          <p:cNvGraphicFramePr/>
          <p:nvPr/>
        </p:nvGraphicFramePr>
        <p:xfrm>
          <a:off x="594360" y="160020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ombo table"/>
          <p:cNvGraphicFramePr/>
          <p:nvPr/>
        </p:nvGraphicFramePr>
        <p:xfrm>
          <a:off x="6355080" y="1691640"/>
          <a:ext cx="5257800" cy="3200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Format × campaign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B2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Weighted ER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B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▲ Story + Tutorial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14967A"/>
                          </a:solidFill>
                          <a:latin typeface="Arial"/>
                          <a:ea typeface="Arial"/>
                          <a:cs typeface="Arial"/>
                        </a:rPr>
                        <a:t>18.85%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▲ Reel + Influencer Collab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14967A"/>
                          </a:solidFill>
                          <a:latin typeface="Arial"/>
                          <a:ea typeface="Arial"/>
                          <a:cs typeface="Arial"/>
                        </a:rPr>
                        <a:t>18.84%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▲ Video + Tutorial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14967A"/>
                          </a:solidFill>
                          <a:latin typeface="Arial"/>
                          <a:ea typeface="Arial"/>
                          <a:cs typeface="Arial"/>
                        </a:rPr>
                        <a:t>18.69%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▲ Video + Product Launch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14967A"/>
                          </a:solidFill>
                          <a:latin typeface="Arial"/>
                          <a:ea typeface="Arial"/>
                          <a:cs typeface="Arial"/>
                        </a:rPr>
                        <a:t>18.65%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▼ Image + Product Launch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F2766B"/>
                          </a:solidFill>
                          <a:latin typeface="Arial"/>
                          <a:ea typeface="Arial"/>
                          <a:cs typeface="Arial"/>
                        </a:rPr>
                        <a:t>18.39%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F1B20"/>
                          </a:solidFill>
                          <a:latin typeface="Arial"/>
                          <a:ea typeface="Arial"/>
                          <a:cs typeface="Arial"/>
                        </a:rPr>
                        <a:t>▼ Image + Festive Offer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 b="1">
                          <a:solidFill>
                            <a:srgbClr val="F2766B"/>
                          </a:solidFill>
                          <a:latin typeface="Arial"/>
                          <a:ea typeface="Arial"/>
                          <a:cs typeface="Arial"/>
                        </a:rPr>
                        <a:t>18.20%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37160" marR="137160" marT="0" marB="0" anchor="ctr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54A9D9E5-90DF-46B0-988A-23CC88DC7742}"/>
              </a:ext>
            </a:extLst>
          </p:cNvPr>
          <p:cNvSpPr>
            <a:spLocks noGrp="1"/>
          </p:cNvSpPr>
          <p:nvPr/>
        </p:nvSpPr>
        <p:spPr>
          <a:xfrm>
            <a:off x="6355080" y="5120640"/>
            <a:ext cx="5257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5B6B70"/>
                </a:solidFill>
              </a:rPr>
              <a:t>Tutorials appear 3% more often among top-quartile posts than expected; Festive Offers 3% less often.</a:t>
            </a:r>
            <a:endParaRPr sz="14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FD38D60-EEF2-4493-99D5-A7CBFF97DD9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9FA9C4-0E38-6994-EB45-3924B25B3632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2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F8FC722-750F-41A2-B3BB-CA8274C21A39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INSIGHT 4 · HASHTAGS &amp; SOURCES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B5838D-5E25-48ED-8822-D7CD20EBC82D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#VeganBeauty earns most; organic trails partner posts</a:t>
            </a:r>
            <a:endParaRPr sz="3000"/>
          </a:p>
        </p:txBody>
      </p:sp>
      <p:graphicFrame>
        <p:nvGraphicFramePr>
          <p:cNvPr id="30" name="Hashtag lift chart"/>
          <p:cNvGraphicFramePr/>
          <p:nvPr/>
        </p:nvGraphicFramePr>
        <p:xfrm>
          <a:off x="594360" y="160020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Source lift chart"/>
          <p:cNvGraphicFramePr/>
          <p:nvPr/>
        </p:nvGraphicFramePr>
        <p:xfrm>
          <a:off x="6217920" y="160020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Hashtag count note">
            <a:extLst>
              <a:ext uri="{FF2B5EF4-FFF2-40B4-BE49-F238E27FC236}">
                <a16:creationId xmlns:a16="http://schemas.microsoft.com/office/drawing/2014/main" id="{288C2739-3DCD-4B08-93DE-9893707F40DA}"/>
              </a:ext>
            </a:extLst>
          </p:cNvPr>
          <p:cNvSpPr>
            <a:spLocks noGrp="1"/>
          </p:cNvSpPr>
          <p:nvPr/>
        </p:nvSpPr>
        <p:spPr>
          <a:xfrm>
            <a:off x="594360" y="534924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EEF6F4"/>
          </a:solidFill>
        </p:spPr>
        <p:txBody>
          <a:bodyPr/>
          <a:lstStyle/>
          <a:p>
            <a:endParaRPr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8B1BC50-8BAA-453A-B12C-009BAD74EE51}"/>
              </a:ext>
            </a:extLst>
          </p:cNvPr>
          <p:cNvSpPr>
            <a:spLocks noGrp="1"/>
          </p:cNvSpPr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4967A"/>
                </a:solidFill>
              </a:rPr>
              <a:t>2 hashtags per post: </a:t>
            </a:r>
            <a:r>
              <a:rPr sz="1500">
                <a:solidFill>
                  <a:schemeClr val="tx1"/>
                </a:solidFill>
              </a:rPr>
              <a:t>18.65% ER vs 18.44% with a single tag. Paid posts only match the average (−0.02%) — review boost spend.</a:t>
            </a:r>
            <a:endParaRPr sz="15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4E5BED6-7CFA-4873-B445-46832FE22F5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142046-82AD-63FC-F831-8299EA61E660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11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0506A7D-0B5F-44ED-B5B1-F0689CCFDAD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PLAYBOOK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FDD358-5F6D-4188-8CB3-36F68F27DAFB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Do more, do less, test next</a:t>
            </a:r>
            <a:endParaRPr sz="3000"/>
          </a:p>
        </p:txBody>
      </p:sp>
      <p:sp>
        <p:nvSpPr>
          <p:cNvPr id="4" name="Do more column">
            <a:extLst>
              <a:ext uri="{FF2B5EF4-FFF2-40B4-BE49-F238E27FC236}">
                <a16:creationId xmlns:a16="http://schemas.microsoft.com/office/drawing/2014/main" id="{D156D99A-079F-4162-9F73-3A96B624A81D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Do more icon bg">
            <a:extLst>
              <a:ext uri="{FF2B5EF4-FFF2-40B4-BE49-F238E27FC236}">
                <a16:creationId xmlns:a16="http://schemas.microsoft.com/office/drawing/2014/main" id="{7BAE4FB3-201C-429B-B260-16F63DA58F57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4967A"/>
          </a:solidFill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93392"/>
            <a:ext cx="402336" cy="40233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5A32CE0-0D7B-46F5-8FD4-B850DDB29768}"/>
              </a:ext>
            </a:extLst>
          </p:cNvPr>
          <p:cNvSpPr>
            <a:spLocks noGrp="1"/>
          </p:cNvSpPr>
          <p:nvPr/>
        </p:nvSpPr>
        <p:spPr>
          <a:xfrm>
            <a:off x="164592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Do more</a:t>
            </a:r>
            <a:endParaRPr sz="2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0BA7F64-320F-4554-8B40-256C50D9BF76}"/>
              </a:ext>
            </a:extLst>
          </p:cNvPr>
          <p:cNvSpPr>
            <a:spLocks noGrp="1"/>
          </p:cNvSpPr>
          <p:nvPr/>
        </p:nvSpPr>
        <p:spPr>
          <a:xfrm>
            <a:off x="868680" y="2788920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Story tutorials and Reel creator collabs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Friday / Saturday for key launches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2 focused hashtags: #VeganBeauty, #BoldLooks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"Save this look" and "send to a friend" prompts</a:t>
            </a:r>
            <a:endParaRPr sz="1500"/>
          </a:p>
        </p:txBody>
      </p:sp>
      <p:sp>
        <p:nvSpPr>
          <p:cNvPr id="9" name="Do less column">
            <a:extLst>
              <a:ext uri="{FF2B5EF4-FFF2-40B4-BE49-F238E27FC236}">
                <a16:creationId xmlns:a16="http://schemas.microsoft.com/office/drawing/2014/main" id="{51E2579A-450A-41E3-A14B-E6DD408F1341}"/>
              </a:ext>
            </a:extLst>
          </p:cNvPr>
          <p:cNvSpPr>
            <a:spLocks noGrp="1"/>
          </p:cNvSpPr>
          <p:nvPr/>
        </p:nvSpPr>
        <p:spPr>
          <a:xfrm>
            <a:off x="434340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Do less icon bg">
            <a:extLst>
              <a:ext uri="{FF2B5EF4-FFF2-40B4-BE49-F238E27FC236}">
                <a16:creationId xmlns:a16="http://schemas.microsoft.com/office/drawing/2014/main" id="{82EB3C61-1EF3-4A0D-AC80-B3329E4B38F7}"/>
              </a:ext>
            </a:extLst>
          </p:cNvPr>
          <p:cNvSpPr>
            <a:spLocks noGrp="1"/>
          </p:cNvSpPr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F2766B"/>
          </a:solidFill>
        </p:spPr>
        <p:txBody>
          <a:bodyPr/>
          <a:lstStyle/>
          <a:p>
            <a:endParaRPr/>
          </a:p>
        </p:txBody>
      </p:sp>
      <p:pic>
        <p:nvPicPr>
          <p:cNvPr id="3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93392"/>
            <a:ext cx="402336" cy="402336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50AD6677-B38F-4C13-B487-95144E6D8E30}"/>
              </a:ext>
            </a:extLst>
          </p:cNvPr>
          <p:cNvSpPr>
            <a:spLocks noGrp="1"/>
          </p:cNvSpPr>
          <p:nvPr/>
        </p:nvSpPr>
        <p:spPr>
          <a:xfrm>
            <a:off x="539496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Do less</a:t>
            </a:r>
            <a:endParaRPr sz="2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D989AE-251B-4934-9C15-6702C8891D7B}"/>
              </a:ext>
            </a:extLst>
          </p:cNvPr>
          <p:cNvSpPr>
            <a:spLocks noGrp="1"/>
          </p:cNvSpPr>
          <p:nvPr/>
        </p:nvSpPr>
        <p:spPr>
          <a:xfrm>
            <a:off x="4617720" y="2788920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Static-image festive offers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Single-hashtag posts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Boosting posts without a proven ER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Pure product shots with no how-to angle</a:t>
            </a:r>
            <a:endParaRPr sz="1500"/>
          </a:p>
        </p:txBody>
      </p:sp>
      <p:sp>
        <p:nvSpPr>
          <p:cNvPr id="14" name="Test next column">
            <a:extLst>
              <a:ext uri="{FF2B5EF4-FFF2-40B4-BE49-F238E27FC236}">
                <a16:creationId xmlns:a16="http://schemas.microsoft.com/office/drawing/2014/main" id="{49038C71-B29F-4872-9685-3AED3E0C8B26}"/>
              </a:ext>
            </a:extLst>
          </p:cNvPr>
          <p:cNvSpPr>
            <a:spLocks noGrp="1"/>
          </p:cNvSpPr>
          <p:nvPr/>
        </p:nvSpPr>
        <p:spPr>
          <a:xfrm>
            <a:off x="809244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" name="Test next icon bg">
            <a:extLst>
              <a:ext uri="{FF2B5EF4-FFF2-40B4-BE49-F238E27FC236}">
                <a16:creationId xmlns:a16="http://schemas.microsoft.com/office/drawing/2014/main" id="{8D499F5F-076F-4C9F-97EE-34C1FD557E2F}"/>
              </a:ext>
            </a:extLst>
          </p:cNvPr>
          <p:cNvSpPr>
            <a:spLocks noGrp="1"/>
          </p:cNvSpPr>
          <p:nvPr/>
        </p:nvSpPr>
        <p:spPr>
          <a:xfrm>
            <a:off x="8366760" y="1874520"/>
            <a:ext cx="640080" cy="640080"/>
          </a:xfrm>
          <a:prstGeom prst="ellipse">
            <a:avLst/>
          </a:prstGeom>
          <a:solidFill>
            <a:srgbClr val="5B6B70"/>
          </a:solidFill>
        </p:spPr>
        <p:txBody>
          <a:bodyPr/>
          <a:lstStyle/>
          <a:p>
            <a:endParaRPr/>
          </a:p>
        </p:txBody>
      </p:sp>
      <p:pic>
        <p:nvPicPr>
          <p:cNvPr id="4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993392"/>
            <a:ext cx="402336" cy="40233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73E6CABE-51E6-417E-94A6-4224BF7C7DA4}"/>
              </a:ext>
            </a:extLst>
          </p:cNvPr>
          <p:cNvSpPr>
            <a:spLocks noGrp="1"/>
          </p:cNvSpPr>
          <p:nvPr/>
        </p:nvSpPr>
        <p:spPr>
          <a:xfrm>
            <a:off x="9144000" y="1965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Test next</a:t>
            </a:r>
            <a:endParaRPr sz="20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2CBAFEB-E5F2-43DE-87A1-A4B4EE922EFD}"/>
              </a:ext>
            </a:extLst>
          </p:cNvPr>
          <p:cNvSpPr>
            <a:spLocks noGrp="1"/>
          </p:cNvSpPr>
          <p:nvPr/>
        </p:nvSpPr>
        <p:spPr>
          <a:xfrm>
            <a:off x="8366760" y="2788920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Carousel how-to posts (tag as own format)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Posting hour (needs timestamp data)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Paid boosts only on top-ER hidden gems</a:t>
            </a:r>
            <a:endParaRPr sz="15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chemeClr val="tx1"/>
                </a:solidFill>
              </a:rPr>
              <a:t>Comment-to-enter shade-match giveaways</a:t>
            </a:r>
            <a:endParaRPr sz="15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003DD6C-39BA-4BF2-83E3-F6F50FB9D26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C22341-C7DC-6079-2307-F5CF56E9766E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77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14F6F29-C961-459A-8AD2-D9E718F237B2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sz="1200" b="1">
                <a:solidFill>
                  <a:schemeClr val="accent1"/>
                </a:solidFill>
              </a:rPr>
              <a:t>ROADMAP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637065-B764-4705-B96B-FEE2283CD739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chemeClr val="tx2"/>
                </a:solidFill>
              </a:rPr>
              <a:t>30-60-90 day plan to deepen engagement</a:t>
            </a:r>
            <a:endParaRPr sz="3000"/>
          </a:p>
        </p:txBody>
      </p:sp>
      <p:sp>
        <p:nvSpPr>
          <p:cNvPr id="4" name="Timeline line">
            <a:extLst>
              <a:ext uri="{FF2B5EF4-FFF2-40B4-BE49-F238E27FC236}">
                <a16:creationId xmlns:a16="http://schemas.microsoft.com/office/drawing/2014/main" id="{FD34E869-32F7-4285-8F82-1A32194B2D3D}"/>
              </a:ext>
            </a:extLst>
          </p:cNvPr>
          <p:cNvSpPr>
            <a:spLocks noGrp="1"/>
          </p:cNvSpPr>
          <p:nvPr/>
        </p:nvSpPr>
        <p:spPr>
          <a:xfrm>
            <a:off x="1097280" y="2240280"/>
            <a:ext cx="9966960" cy="0"/>
          </a:xfrm>
          <a:prstGeom prst="line">
            <a:avLst/>
          </a:prstGeom>
          <a:noFill/>
          <a:ln w="38100">
            <a:solidFill>
              <a:srgbClr val="7FD3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ep 1">
            <a:extLst>
              <a:ext uri="{FF2B5EF4-FFF2-40B4-BE49-F238E27FC236}">
                <a16:creationId xmlns:a16="http://schemas.microsoft.com/office/drawing/2014/main" id="{3A88F8EA-BC70-4408-9A12-98D2F6BC76A0}"/>
              </a:ext>
            </a:extLst>
          </p:cNvPr>
          <p:cNvSpPr>
            <a:spLocks noGrp="1"/>
          </p:cNvSpPr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830809-F4B7-4C2E-9899-F588FAFA32DB}"/>
              </a:ext>
            </a:extLst>
          </p:cNvPr>
          <p:cNvSpPr>
            <a:spLocks noGrp="1"/>
          </p:cNvSpPr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1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7FCE63-AADC-436F-A773-4257C1F9A943}"/>
              </a:ext>
            </a:extLst>
          </p:cNvPr>
          <p:cNvSpPr>
            <a:spLocks noGrp="1"/>
          </p:cNvSpPr>
          <p:nvPr/>
        </p:nvSpPr>
        <p:spPr>
          <a:xfrm>
            <a:off x="86868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chemeClr val="accent1"/>
                </a:solidFill>
              </a:rPr>
              <a:t>Days 1–30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F08E56-6F98-4061-BE14-A3FF2E75F86C}"/>
              </a:ext>
            </a:extLst>
          </p:cNvPr>
          <p:cNvSpPr>
            <a:spLocks noGrp="1"/>
          </p:cNvSpPr>
          <p:nvPr/>
        </p:nvSpPr>
        <p:spPr>
          <a:xfrm>
            <a:off x="86868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Quick wins</a:t>
            </a:r>
            <a:endParaRPr sz="2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1CE50FF-E2CA-40C4-ACCD-734A54485C8B}"/>
              </a:ext>
            </a:extLst>
          </p:cNvPr>
          <p:cNvSpPr>
            <a:spLocks noGrp="1"/>
          </p:cNvSpPr>
          <p:nvPr/>
        </p:nvSpPr>
        <p:spPr>
          <a:xfrm>
            <a:off x="86868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Save/share CTA on every tutorial · move festive offers to Reels &amp; Stories · standardise on 2 hashtags</a:t>
            </a:r>
            <a:endParaRPr sz="1400"/>
          </a:p>
        </p:txBody>
      </p:sp>
      <p:sp>
        <p:nvSpPr>
          <p:cNvPr id="10" name="Step 2">
            <a:extLst>
              <a:ext uri="{FF2B5EF4-FFF2-40B4-BE49-F238E27FC236}">
                <a16:creationId xmlns:a16="http://schemas.microsoft.com/office/drawing/2014/main" id="{133A7CE8-CBA9-41DE-8150-BBA839A59B06}"/>
              </a:ext>
            </a:extLst>
          </p:cNvPr>
          <p:cNvSpPr>
            <a:spLocks noGrp="1"/>
          </p:cNvSpPr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BD65E9F-279C-4FBC-9135-14FB58F9C486}"/>
              </a:ext>
            </a:extLst>
          </p:cNvPr>
          <p:cNvSpPr>
            <a:spLocks noGrp="1"/>
          </p:cNvSpPr>
          <p:nvPr/>
        </p:nvSpPr>
        <p:spPr>
          <a:xfrm>
            <a:off x="461772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2</a:t>
            </a:r>
            <a:endParaRPr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BD9A64-A56F-4A09-8AAC-E65E853032F9}"/>
              </a:ext>
            </a:extLst>
          </p:cNvPr>
          <p:cNvSpPr>
            <a:spLocks noGrp="1"/>
          </p:cNvSpPr>
          <p:nvPr/>
        </p:nvSpPr>
        <p:spPr>
          <a:xfrm>
            <a:off x="461772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chemeClr val="accent1"/>
                </a:solidFill>
              </a:rPr>
              <a:t>Days 31–60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75AFFF-A377-4B40-9961-216A0B55C84E}"/>
              </a:ext>
            </a:extLst>
          </p:cNvPr>
          <p:cNvSpPr>
            <a:spLocks noGrp="1"/>
          </p:cNvSpPr>
          <p:nvPr/>
        </p:nvSpPr>
        <p:spPr>
          <a:xfrm>
            <a:off x="461772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New formats</a:t>
            </a:r>
            <a:endParaRPr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F86BF6-9905-4149-B523-43C820D6C404}"/>
              </a:ext>
            </a:extLst>
          </p:cNvPr>
          <p:cNvSpPr>
            <a:spLocks noGrp="1"/>
          </p:cNvSpPr>
          <p:nvPr/>
        </p:nvSpPr>
        <p:spPr>
          <a:xfrm>
            <a:off x="461772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Weekly Saturday Story Tutorial series · monthly #BoldLooks creator collab · weekly save &amp; share tracking</a:t>
            </a:r>
            <a:endParaRPr sz="1400"/>
          </a:p>
        </p:txBody>
      </p:sp>
      <p:sp>
        <p:nvSpPr>
          <p:cNvPr id="15" name="Step 3">
            <a:extLst>
              <a:ext uri="{FF2B5EF4-FFF2-40B4-BE49-F238E27FC236}">
                <a16:creationId xmlns:a16="http://schemas.microsoft.com/office/drawing/2014/main" id="{B52F9959-91C1-48D6-B626-849FADB294AE}"/>
              </a:ext>
            </a:extLst>
          </p:cNvPr>
          <p:cNvSpPr>
            <a:spLocks noGrp="1"/>
          </p:cNvSpPr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4E13CB-DB8D-4095-ABE0-03AF1A163A42}"/>
              </a:ext>
            </a:extLst>
          </p:cNvPr>
          <p:cNvSpPr>
            <a:spLocks noGrp="1"/>
          </p:cNvSpPr>
          <p:nvPr/>
        </p:nvSpPr>
        <p:spPr>
          <a:xfrm>
            <a:off x="836676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3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46F0C8D-F55F-4527-8AEB-F42AAC687689}"/>
              </a:ext>
            </a:extLst>
          </p:cNvPr>
          <p:cNvSpPr>
            <a:spLocks noGrp="1"/>
          </p:cNvSpPr>
          <p:nvPr/>
        </p:nvSpPr>
        <p:spPr>
          <a:xfrm>
            <a:off x="836676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chemeClr val="accent1"/>
                </a:solidFill>
              </a:rPr>
              <a:t>Days 61–90</a:t>
            </a:r>
            <a:endParaRPr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2E7CAB-B091-4775-B358-1415D80713A7}"/>
              </a:ext>
            </a:extLst>
          </p:cNvPr>
          <p:cNvSpPr>
            <a:spLocks noGrp="1"/>
          </p:cNvSpPr>
          <p:nvPr/>
        </p:nvSpPr>
        <p:spPr>
          <a:xfrm>
            <a:off x="836676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chemeClr val="tx2"/>
                </a:solidFill>
              </a:rPr>
              <a:t>Optimise spend</a:t>
            </a:r>
            <a:endParaRPr sz="2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8F2C4A8-C8C0-4C5B-A391-9F34342C8A18}"/>
              </a:ext>
            </a:extLst>
          </p:cNvPr>
          <p:cNvSpPr>
            <a:spLocks noGrp="1"/>
          </p:cNvSpPr>
          <p:nvPr/>
        </p:nvSpPr>
        <p:spPr>
          <a:xfrm>
            <a:off x="8366760" y="36576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Shift paid budget to top-5% ER posts · review results and reset targets</a:t>
            </a:r>
            <a:endParaRPr sz="1400"/>
          </a:p>
        </p:txBody>
      </p:sp>
      <p:sp>
        <p:nvSpPr>
          <p:cNvPr id="20" name="Targets banner">
            <a:extLst>
              <a:ext uri="{FF2B5EF4-FFF2-40B4-BE49-F238E27FC236}">
                <a16:creationId xmlns:a16="http://schemas.microsoft.com/office/drawing/2014/main" id="{5B5DCB18-9C96-48F0-80F6-B48BC470142F}"/>
              </a:ext>
            </a:extLst>
          </p:cNvPr>
          <p:cNvSpPr>
            <a:spLocks noGrp="1"/>
          </p:cNvSpPr>
          <p:nvPr/>
        </p:nvSpPr>
        <p:spPr>
          <a:xfrm>
            <a:off x="594360" y="5257800"/>
            <a:ext cx="11018520" cy="914400"/>
          </a:xfrm>
          <a:prstGeom prst="roundRect">
            <a:avLst>
              <a:gd name="adj" fmla="val 10000"/>
            </a:avLst>
          </a:prstGeom>
          <a:solidFill>
            <a:srgbClr val="0B2A2F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554D9D8-7656-48B4-B7B0-DEBE1F19B990}"/>
              </a:ext>
            </a:extLst>
          </p:cNvPr>
          <p:cNvSpPr>
            <a:spLocks noGrp="1"/>
          </p:cNvSpPr>
          <p:nvPr/>
        </p:nvSpPr>
        <p:spPr>
          <a:xfrm>
            <a:off x="868680" y="5394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7FD3B2"/>
                </a:solidFill>
              </a:rPr>
              <a:t>90-day targets:  </a:t>
            </a:r>
            <a:r>
              <a:rPr sz="1600">
                <a:solidFill>
                  <a:srgbClr val="FFFFFF"/>
                </a:solidFill>
              </a:rPr>
              <a:t>save rate 0.90% → 1.2%   ·   profile visits 3.0% → 4.0% of reach   ·   ER above 18.8%</a:t>
            </a:r>
            <a:endParaRPr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BF7B639-6117-4A59-8371-D20AB466078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5B6B70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10A772-5512-3275-6E0E-9421A4AAF92C}"/>
              </a:ext>
            </a:extLst>
          </p:cNvPr>
          <p:cNvSpPr/>
          <p:nvPr/>
        </p:nvSpPr>
        <p:spPr>
          <a:xfrm>
            <a:off x="594360" y="6382512"/>
            <a:ext cx="3520440" cy="27432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88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FF7624-918E-4A62-AFBF-C33F71D39AF6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sz="4400" b="1">
                <a:solidFill>
                  <a:schemeClr val="bg1"/>
                </a:solidFill>
              </a:rPr>
              <a:t>Data gaps to close next</a:t>
            </a:r>
            <a:endParaRPr sz="44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C9D12B1-BC41-4996-A35A-CD16D5F2CF9C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800">
                <a:solidFill>
                  <a:srgbClr val="7FD3B2"/>
                </a:solidFill>
              </a:rPr>
              <a:t>Caption text · posting hour · ad spend · follower history · carousel tag</a:t>
            </a:r>
            <a:endParaRPr sz="1800"/>
          </a:p>
          <a:p>
            <a:pPr marL="0" indent="0" algn="l">
              <a:buNone/>
            </a:pPr>
            <a:r>
              <a:rPr sz="1500">
                <a:solidFill>
                  <a:srgbClr val="FFFFFF"/>
                </a:solidFill>
              </a:rPr>
              <a:t>Adding these unlocks keyword, time-of-day and paid-ROI analysis.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15094737"/>
      </p:ext>
    </p:extLst>
  </p:cSld>
  <p:clrMapOvr>
    <a:masterClrMapping/>
  </p:clrMapOvr>
</p:sld>
</file>

<file path=ppt/theme/theme1.xml><?xml version="1.0" encoding="utf-8"?>
<a:theme xmlns:a="http://schemas.openxmlformats.org/drawingml/2006/main" name="Kashish Teal">
  <a:themeElements>
    <a:clrScheme name="Kashish Teal">
      <a:dk1>
        <a:srgbClr val="0F1B20"/>
      </a:dk1>
      <a:lt1>
        <a:srgbClr val="FFFFFF"/>
      </a:lt1>
      <a:dk2>
        <a:srgbClr val="0B2A2F"/>
      </a:dk2>
      <a:lt2>
        <a:srgbClr val="EEF6F4"/>
      </a:lt2>
      <a:accent1>
        <a:srgbClr val="14967A"/>
      </a:accent1>
      <a:accent2>
        <a:srgbClr val="F2766B"/>
      </a:accent2>
      <a:accent3>
        <a:srgbClr val="7FD3B2"/>
      </a:accent3>
      <a:accent4>
        <a:srgbClr val="5B6B70"/>
      </a:accent4>
      <a:accent5>
        <a:srgbClr val="C98500"/>
      </a:accent5>
      <a:accent6>
        <a:srgbClr val="9085E9"/>
      </a:accent6>
      <a:hlink>
        <a:srgbClr val="14967A"/>
      </a:hlink>
      <a:folHlink>
        <a:srgbClr val="0B2A2F"/>
      </a:folHlink>
    </a:clrScheme>
    <a:fontScheme name="Kashish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shish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shish Teal">
  <a:themeElements>
    <a:clrScheme name="Kashish Teal">
      <a:dk1>
        <a:srgbClr val="0F1B20"/>
      </a:dk1>
      <a:lt1>
        <a:srgbClr val="FFFFFF"/>
      </a:lt1>
      <a:dk2>
        <a:srgbClr val="0B2A2F"/>
      </a:dk2>
      <a:lt2>
        <a:srgbClr val="EEF6F4"/>
      </a:lt2>
      <a:accent1>
        <a:srgbClr val="14967A"/>
      </a:accent1>
      <a:accent2>
        <a:srgbClr val="F2766B"/>
      </a:accent2>
      <a:accent3>
        <a:srgbClr val="7FD3B2"/>
      </a:accent3>
      <a:accent4>
        <a:srgbClr val="5B6B70"/>
      </a:accent4>
      <a:accent5>
        <a:srgbClr val="C98500"/>
      </a:accent5>
      <a:accent6>
        <a:srgbClr val="9085E9"/>
      </a:accent6>
      <a:hlink>
        <a:srgbClr val="14967A"/>
      </a:hlink>
      <a:folHlink>
        <a:srgbClr val="0B2A2F"/>
      </a:folHlink>
    </a:clrScheme>
    <a:fontScheme name="Kashish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shish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DocSecurity>0</DocSecurity>
  <PresentationFormat>Widescreen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Kashish Teal</vt:lpstr>
      <vt:lpstr>Sugar Cosmetics on Instagram: what really drives engagement?</vt:lpstr>
      <vt:lpstr>Huge reach, steady output, 18.55% engagement rate</vt:lpstr>
      <vt:lpstr>Engagement is wide but shallow: 4 in 5 interactions are likes</vt:lpstr>
      <vt:lpstr>Stories and Reels lead; Friday and Saturday win</vt:lpstr>
      <vt:lpstr>Tutorials and creator collabs win; static festive offers lag</vt:lpstr>
      <vt:lpstr>#VeganBeauty earns most; organic trails partner posts</vt:lpstr>
      <vt:lpstr>Do more, do less, test next</vt:lpstr>
      <vt:lpstr>30-60-90 day plan to deepen engagement</vt:lpstr>
      <vt:lpstr>Data gaps to close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Ankit Kumar Sharma</cp:lastModifiedBy>
  <cp:revision>2</cp:revision>
  <dcterms:created xsi:type="dcterms:W3CDTF">2026-10-19T16:39:28Z</dcterms:created>
  <dcterms:modified xsi:type="dcterms:W3CDTF">2026-10-19T16:42:11Z</dcterms:modified>
</cp:coreProperties>
</file>